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828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92BA2-2292-4F24-A5B0-12EED9357473}" type="datetimeFigureOut">
              <a:rPr lang="ru-RU" smtClean="0"/>
              <a:t>09.01.2026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ADD30-50A0-4C68-AB69-6EE5C4EAD7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93915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92BA2-2292-4F24-A5B0-12EED9357473}" type="datetimeFigureOut">
              <a:rPr lang="ru-RU" smtClean="0"/>
              <a:t>09.01.2026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ADD30-50A0-4C68-AB69-6EE5C4EAD7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3276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92BA2-2292-4F24-A5B0-12EED9357473}" type="datetimeFigureOut">
              <a:rPr lang="ru-RU" smtClean="0"/>
              <a:t>09.01.2026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ADD30-50A0-4C68-AB69-6EE5C4EAD7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60177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92BA2-2292-4F24-A5B0-12EED9357473}" type="datetimeFigureOut">
              <a:rPr lang="ru-RU" smtClean="0"/>
              <a:t>09.01.2026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ADD30-50A0-4C68-AB69-6EE5C4EAD7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1646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92BA2-2292-4F24-A5B0-12EED9357473}" type="datetimeFigureOut">
              <a:rPr lang="ru-RU" smtClean="0"/>
              <a:t>09.01.2026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ADD30-50A0-4C68-AB69-6EE5C4EAD781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2490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92BA2-2292-4F24-A5B0-12EED9357473}" type="datetimeFigureOut">
              <a:rPr lang="ru-RU" smtClean="0"/>
              <a:t>09.01.2026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ADD30-50A0-4C68-AB69-6EE5C4EAD7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1723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92BA2-2292-4F24-A5B0-12EED9357473}" type="datetimeFigureOut">
              <a:rPr lang="ru-RU" smtClean="0"/>
              <a:t>09.01.2026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ADD30-50A0-4C68-AB69-6EE5C4EAD7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6170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92BA2-2292-4F24-A5B0-12EED9357473}" type="datetimeFigureOut">
              <a:rPr lang="ru-RU" smtClean="0"/>
              <a:t>09.01.2026</a:t>
            </a:fld>
            <a:endParaRPr lang="ru-RU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ADD30-50A0-4C68-AB69-6EE5C4EAD7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460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49592BA2-2292-4F24-A5B0-12EED9357473}" type="datetimeFigureOut">
              <a:rPr lang="ru-RU" smtClean="0"/>
              <a:t>09.01.2026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ADD30-50A0-4C68-AB69-6EE5C4EAD7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5180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92BA2-2292-4F24-A5B0-12EED9357473}" type="datetimeFigureOut">
              <a:rPr lang="ru-RU" smtClean="0"/>
              <a:t>09.01.2026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ADD30-50A0-4C68-AB69-6EE5C4EAD7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8264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92BA2-2292-4F24-A5B0-12EED9357473}" type="datetimeFigureOut">
              <a:rPr lang="ru-RU" smtClean="0"/>
              <a:t>09.01.2026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ADD30-50A0-4C68-AB69-6EE5C4EAD7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0136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49592BA2-2292-4F24-A5B0-12EED9357473}" type="datetimeFigureOut">
              <a:rPr lang="ru-RU" smtClean="0"/>
              <a:t>09.01.2026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136ADD30-50A0-4C68-AB69-6EE5C4EAD7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7106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07939B-1304-BC42-F5C0-1A317EF218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Анализ эффективности </a:t>
            </a:r>
            <a:r>
              <a:rPr lang="ru-RU" dirty="0" err="1"/>
              <a:t>шоубоксов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042B189-3500-C054-A59C-C73B63CCB5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72625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C78C0E-8DF7-C17F-6DB5-C65A1CE40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8590" y="988741"/>
            <a:ext cx="5888754" cy="4880518"/>
          </a:xfrm>
          <a:noFill/>
          <a:ln>
            <a:noFill/>
          </a:ln>
        </p:spPr>
        <p:txBody>
          <a:bodyPr vert="horz" wrap="square" lIns="274320" tIns="182880" rIns="274320" bIns="182880" rtlCol="0" anchor="ctr" anchorCtr="1">
            <a:normAutofit/>
          </a:bodyPr>
          <a:lstStyle/>
          <a:p>
            <a:pPr algn="l"/>
            <a:endParaRPr lang="en-US" sz="4800" kern="1200" cap="all" spc="200" baseline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Рисунок 4" descr="Изображение выглядит как текст, снимок экрана, диаграмма, Граф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E9707B5-AC90-70C8-0D38-289A180636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8522" y="988741"/>
            <a:ext cx="7245770" cy="5405575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B888FAB-F7FC-DD69-F915-15FE89534DC8}"/>
              </a:ext>
            </a:extLst>
          </p:cNvPr>
          <p:cNvSpPr txBox="1"/>
          <p:nvPr/>
        </p:nvSpPr>
        <p:spPr>
          <a:xfrm>
            <a:off x="152400" y="1490870"/>
            <a:ext cx="421419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b="1" dirty="0">
                <a:solidFill>
                  <a:schemeClr val="bg1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В период проведения акции в тестовой группе (магазины, в которых проводилось промо) наблюдается понижение продаж, которое соответствует общей рыночной ситуации, что видно из контрольной группы. </a:t>
            </a:r>
            <a:endParaRPr lang="en-US" sz="2000" b="1" dirty="0">
              <a:solidFill>
                <a:schemeClr val="bg1"/>
              </a:solidFill>
              <a:latin typeface="Times New Roman" panose="02020603050405020304" pitchFamily="18" charset="0"/>
              <a:ea typeface="ADLaM Display" panose="02010000000000000000" pitchFamily="2" charset="0"/>
              <a:cs typeface="Times New Roman" panose="02020603050405020304" pitchFamily="18" charset="0"/>
            </a:endParaRPr>
          </a:p>
          <a:p>
            <a:pPr algn="just"/>
            <a:endParaRPr lang="en-US" sz="2000" b="1" dirty="0">
              <a:solidFill>
                <a:schemeClr val="bg1"/>
              </a:solidFill>
              <a:latin typeface="Times New Roman" panose="02020603050405020304" pitchFamily="18" charset="0"/>
              <a:ea typeface="ADLaM Display" panose="02010000000000000000" pitchFamily="2" charset="0"/>
              <a:cs typeface="Times New Roman" panose="02020603050405020304" pitchFamily="18" charset="0"/>
            </a:endParaRPr>
          </a:p>
          <a:p>
            <a:pPr algn="just"/>
            <a:r>
              <a:rPr lang="ru-RU" sz="2000" b="1" dirty="0">
                <a:solidFill>
                  <a:schemeClr val="bg1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В тестовой группе продажи упали немного больше, чем в контрольной группе</a:t>
            </a:r>
          </a:p>
        </p:txBody>
      </p:sp>
    </p:spTree>
    <p:extLst>
      <p:ext uri="{BB962C8B-B14F-4D97-AF65-F5344CB8AC3E}">
        <p14:creationId xmlns:p14="http://schemas.microsoft.com/office/powerpoint/2010/main" val="18634952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545DEB-A2EC-B2CF-5659-E785EB3A7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8590" y="988741"/>
            <a:ext cx="5888754" cy="4880518"/>
          </a:xfrm>
          <a:noFill/>
          <a:ln>
            <a:noFill/>
          </a:ln>
        </p:spPr>
        <p:txBody>
          <a:bodyPr vert="horz" wrap="square" lIns="274320" tIns="182880" rIns="274320" bIns="182880" rtlCol="0" anchor="ctr" anchorCtr="1">
            <a:normAutofit/>
          </a:bodyPr>
          <a:lstStyle/>
          <a:p>
            <a:pPr algn="l"/>
            <a:endParaRPr lang="en-US" sz="4800" kern="1200" cap="all" spc="200" baseline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Рисунок 6" descr="Изображение выглядит как текст, диаграмма, График, линия">
            <a:extLst>
              <a:ext uri="{FF2B5EF4-FFF2-40B4-BE49-F238E27FC236}">
                <a16:creationId xmlns:a16="http://schemas.microsoft.com/office/drawing/2014/main" id="{A40D8EE2-7C4C-E2D5-A75D-1256E69DF3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8467" y="1098644"/>
            <a:ext cx="7165689" cy="5345833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DEECABC-160A-CBA5-6F0D-A4B93265CF0D}"/>
              </a:ext>
            </a:extLst>
          </p:cNvPr>
          <p:cNvSpPr txBox="1"/>
          <p:nvPr/>
        </p:nvSpPr>
        <p:spPr>
          <a:xfrm>
            <a:off x="0" y="1534826"/>
            <a:ext cx="422165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800" b="1" dirty="0">
                <a:solidFill>
                  <a:schemeClr val="bg1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Промежуточный вывод по анализу тренда: </a:t>
            </a:r>
          </a:p>
          <a:p>
            <a:pPr algn="just"/>
            <a:endParaRPr lang="ru-RU" b="1" dirty="0">
              <a:solidFill>
                <a:schemeClr val="bg1"/>
              </a:solidFill>
              <a:latin typeface="Times New Roman" panose="02020603050405020304" pitchFamily="18" charset="0"/>
              <a:ea typeface="ADLaM Display" panose="02010000000000000000" pitchFamily="2" charset="0"/>
              <a:cs typeface="Times New Roman" panose="02020603050405020304" pitchFamily="18" charset="0"/>
            </a:endParaRPr>
          </a:p>
          <a:p>
            <a:pPr algn="just"/>
            <a:r>
              <a:rPr lang="ru-RU" b="1" dirty="0">
                <a:solidFill>
                  <a:schemeClr val="bg1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Показатели тренда в контрольной и тестовой группой совпадают практически полностью </a:t>
            </a:r>
            <a:r>
              <a:rPr lang="ru-RU" b="1" dirty="0">
                <a:solidFill>
                  <a:schemeClr val="bg1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  <a:sym typeface="Wingdings" panose="05000000000000000000" pitchFamily="2" charset="2"/>
              </a:rPr>
              <a:t>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ru-RU" b="1" dirty="0">
                <a:solidFill>
                  <a:schemeClr val="bg1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  <a:sym typeface="Wingdings" panose="05000000000000000000" pitchFamily="2" charset="2"/>
              </a:rPr>
              <a:t>общие показатели продаж в тестовых магазинах не выросли</a:t>
            </a:r>
            <a:endParaRPr lang="ru-RU" sz="1800" b="1" dirty="0">
              <a:solidFill>
                <a:schemeClr val="bg1"/>
              </a:solidFill>
              <a:latin typeface="Times New Roman" panose="02020603050405020304" pitchFamily="18" charset="0"/>
              <a:ea typeface="ADLaM Display" panose="02010000000000000000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89457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927045-5F5E-E910-EC29-D69681809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8590" y="988741"/>
            <a:ext cx="5888754" cy="4880518"/>
          </a:xfrm>
          <a:noFill/>
          <a:ln>
            <a:noFill/>
          </a:ln>
        </p:spPr>
        <p:txBody>
          <a:bodyPr vert="horz" wrap="square" lIns="274320" tIns="182880" rIns="274320" bIns="182880" rtlCol="0" anchor="ctr" anchorCtr="1">
            <a:normAutofit/>
          </a:bodyPr>
          <a:lstStyle/>
          <a:p>
            <a:pPr algn="l"/>
            <a:endParaRPr lang="en-US" sz="4800" kern="1200" cap="all" spc="200" baseline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Рисунок 4" descr="Изображение выглядит как текст, снимок экрана, диаграмма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8E0B725-9B27-9BB6-D498-CF39F7AA76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2365" y="988741"/>
            <a:ext cx="7255565" cy="5412883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0389064-A59B-9104-7938-DE9CB4537BDF}"/>
              </a:ext>
            </a:extLst>
          </p:cNvPr>
          <p:cNvSpPr txBox="1"/>
          <p:nvPr/>
        </p:nvSpPr>
        <p:spPr>
          <a:xfrm>
            <a:off x="0" y="1333286"/>
            <a:ext cx="429370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800" b="1" dirty="0">
                <a:solidFill>
                  <a:schemeClr val="bg1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Оценка по целевому 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SKU:</a:t>
            </a:r>
            <a:endParaRPr lang="ru-RU" sz="1800" b="1" dirty="0">
              <a:solidFill>
                <a:schemeClr val="bg1"/>
              </a:solidFill>
              <a:latin typeface="Times New Roman" panose="02020603050405020304" pitchFamily="18" charset="0"/>
              <a:ea typeface="ADLaM Display" panose="02010000000000000000" pitchFamily="2" charset="0"/>
              <a:cs typeface="Times New Roman" panose="02020603050405020304" pitchFamily="18" charset="0"/>
            </a:endParaRPr>
          </a:p>
          <a:p>
            <a:pPr algn="just"/>
            <a:endParaRPr lang="ru-RU" b="1" dirty="0">
              <a:solidFill>
                <a:schemeClr val="bg1"/>
              </a:solidFill>
              <a:latin typeface="Times New Roman" panose="02020603050405020304" pitchFamily="18" charset="0"/>
              <a:ea typeface="ADLaM Display" panose="02010000000000000000" pitchFamily="2" charset="0"/>
              <a:cs typeface="Times New Roman" panose="02020603050405020304" pitchFamily="18" charset="0"/>
            </a:endParaRPr>
          </a:p>
          <a:p>
            <a:pPr algn="just"/>
            <a:r>
              <a:rPr lang="ru-RU" sz="1800" b="1" dirty="0">
                <a:solidFill>
                  <a:schemeClr val="bg1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Возможно, </a:t>
            </a:r>
            <a:r>
              <a:rPr lang="ru-RU" sz="1800" b="1" dirty="0" err="1">
                <a:solidFill>
                  <a:schemeClr val="bg1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шоубоксы</a:t>
            </a:r>
            <a:r>
              <a:rPr lang="ru-RU" sz="1800" b="1" dirty="0">
                <a:solidFill>
                  <a:schemeClr val="bg1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 действительно дают увеличение продаж именно по данной категории товара, хоть и не увеличивают общий средний показатель продаж</a:t>
            </a:r>
          </a:p>
        </p:txBody>
      </p:sp>
    </p:spTree>
    <p:extLst>
      <p:ext uri="{BB962C8B-B14F-4D97-AF65-F5344CB8AC3E}">
        <p14:creationId xmlns:p14="http://schemas.microsoft.com/office/powerpoint/2010/main" val="8695089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151F16-8ED4-76DF-A268-771054728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8590" y="988741"/>
            <a:ext cx="5888754" cy="4880518"/>
          </a:xfrm>
          <a:noFill/>
          <a:ln>
            <a:noFill/>
          </a:ln>
        </p:spPr>
        <p:txBody>
          <a:bodyPr vert="horz" wrap="square" lIns="274320" tIns="182880" rIns="274320" bIns="182880" rtlCol="0" anchor="ctr" anchorCtr="1">
            <a:normAutofit/>
          </a:bodyPr>
          <a:lstStyle/>
          <a:p>
            <a:pPr algn="l"/>
            <a:endParaRPr lang="en-US" sz="4800" kern="1200" cap="all" spc="200" baseline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Рисунок 4" descr="Изображение выглядит как текст, диаграмма, График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61EE5B5-53D4-67B7-0FD2-9E37ED3444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1113431"/>
            <a:ext cx="7092974" cy="5291585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DA522D9-3C84-C38F-9D5A-305ED7C4D012}"/>
              </a:ext>
            </a:extLst>
          </p:cNvPr>
          <p:cNvSpPr txBox="1"/>
          <p:nvPr/>
        </p:nvSpPr>
        <p:spPr>
          <a:xfrm>
            <a:off x="337930" y="1512190"/>
            <a:ext cx="382403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800" b="1" dirty="0">
                <a:solidFill>
                  <a:schemeClr val="bg1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Здесь мы можем видеть, что, действительно, целевой товар продается немного лучше, чем товары на рынке в среднем</a:t>
            </a:r>
          </a:p>
        </p:txBody>
      </p:sp>
    </p:spTree>
    <p:extLst>
      <p:ext uri="{BB962C8B-B14F-4D97-AF65-F5344CB8AC3E}">
        <p14:creationId xmlns:p14="http://schemas.microsoft.com/office/powerpoint/2010/main" val="13420486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19C5CF-FC2D-42E2-2C39-189B30501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8590" y="988741"/>
            <a:ext cx="5888754" cy="4880518"/>
          </a:xfrm>
          <a:noFill/>
          <a:ln>
            <a:noFill/>
          </a:ln>
        </p:spPr>
        <p:txBody>
          <a:bodyPr vert="horz" wrap="square" lIns="274320" tIns="182880" rIns="274320" bIns="182880" rtlCol="0" anchor="ctr" anchorCtr="1">
            <a:normAutofit/>
          </a:bodyPr>
          <a:lstStyle/>
          <a:p>
            <a:pPr algn="l"/>
            <a:endParaRPr lang="en-US" sz="4800" kern="1200" cap="all" spc="200" baseline="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B41814-7BD7-FEB1-16D7-ECF73403EC6F}"/>
              </a:ext>
            </a:extLst>
          </p:cNvPr>
          <p:cNvSpPr txBox="1"/>
          <p:nvPr/>
        </p:nvSpPr>
        <p:spPr>
          <a:xfrm>
            <a:off x="437322" y="1237926"/>
            <a:ext cx="64008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800" b="1" dirty="0">
                <a:solidFill>
                  <a:schemeClr val="bg1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Используем показатели декабрьских продаж в  тестовых магазинах, чтобы понять: действительно ли </a:t>
            </a:r>
            <a:r>
              <a:rPr lang="ru-RU" sz="1800" b="1" dirty="0" err="1">
                <a:solidFill>
                  <a:schemeClr val="bg1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шоубоксы</a:t>
            </a:r>
            <a:r>
              <a:rPr lang="ru-RU" sz="1800" b="1" dirty="0">
                <a:solidFill>
                  <a:schemeClr val="bg1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 дают положительный эффект, или же просто в тестовой группе товары именно этого типа (сосиски молочные 300г) продаются лучше?</a:t>
            </a:r>
          </a:p>
          <a:p>
            <a:pPr algn="just"/>
            <a:endParaRPr lang="ru-RU" b="1" dirty="0">
              <a:solidFill>
                <a:schemeClr val="bg1"/>
              </a:solidFill>
              <a:latin typeface="Times New Roman" panose="02020603050405020304" pitchFamily="18" charset="0"/>
              <a:ea typeface="ADLaM Display" panose="02010000000000000000" pitchFamily="2" charset="0"/>
              <a:cs typeface="Times New Roman" panose="02020603050405020304" pitchFamily="18" charset="0"/>
            </a:endParaRPr>
          </a:p>
          <a:p>
            <a:pPr algn="just"/>
            <a:r>
              <a:rPr lang="ru-RU" sz="1800" b="1" dirty="0">
                <a:solidFill>
                  <a:schemeClr val="bg1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После корректировки на декабрьский «фон» продаж мы можем сделать следующий вывод: эффект на целевой 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SKU</a:t>
            </a:r>
            <a:r>
              <a:rPr lang="ru-RU" sz="1800" b="1" dirty="0">
                <a:solidFill>
                  <a:schemeClr val="bg1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 статистически неотличим от нуля (-0.16), также нет ощутимого эффекта по суммарной продаже всех сосисок – разброс доверительного интервала проходит через ноль, а значит об истинном эффекте </a:t>
            </a:r>
            <a:r>
              <a:rPr lang="ru-RU" sz="1800" b="1" dirty="0" err="1">
                <a:solidFill>
                  <a:schemeClr val="bg1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шоубоксов</a:t>
            </a:r>
            <a:r>
              <a:rPr lang="ru-RU" sz="1800" b="1" dirty="0">
                <a:solidFill>
                  <a:schemeClr val="bg1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 говорить нельзя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 </a:t>
            </a:r>
            <a:endParaRPr lang="ru-RU" sz="1800" b="1" dirty="0">
              <a:solidFill>
                <a:schemeClr val="bg1"/>
              </a:solidFill>
              <a:latin typeface="Times New Roman" panose="02020603050405020304" pitchFamily="18" charset="0"/>
              <a:ea typeface="ADLaM Display" panose="02010000000000000000" pitchFamily="2" charset="0"/>
              <a:cs typeface="Times New Roman" panose="02020603050405020304" pitchFamily="18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869C9EF-C078-90CF-5C0E-BEF63661BB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56" y="5095485"/>
            <a:ext cx="11075054" cy="773774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9565374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131392-FDBB-8E7A-AC0A-47925CCB7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7F4D72-0E99-6DFC-7403-7A6950C23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8590" y="988741"/>
            <a:ext cx="5888754" cy="4880518"/>
          </a:xfrm>
          <a:noFill/>
          <a:ln>
            <a:noFill/>
          </a:ln>
        </p:spPr>
        <p:txBody>
          <a:bodyPr vert="horz" wrap="square" lIns="274320" tIns="182880" rIns="274320" bIns="182880" rtlCol="0" anchor="ctr" anchorCtr="1">
            <a:normAutofit/>
          </a:bodyPr>
          <a:lstStyle/>
          <a:p>
            <a:pPr algn="l"/>
            <a:endParaRPr lang="en-US" sz="4800" kern="1200" cap="all" spc="200" baseline="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0BD4B6-B28A-84BA-276A-D6BDAAF9106F}"/>
              </a:ext>
            </a:extLst>
          </p:cNvPr>
          <p:cNvSpPr txBox="1"/>
          <p:nvPr/>
        </p:nvSpPr>
        <p:spPr>
          <a:xfrm>
            <a:off x="2776331" y="1284308"/>
            <a:ext cx="64008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chemeClr val="bg1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ИТОГОВЫЙ ВЫВОД:</a:t>
            </a:r>
          </a:p>
          <a:p>
            <a:pPr algn="just"/>
            <a:endParaRPr lang="ru-RU" sz="1800" b="1" dirty="0">
              <a:solidFill>
                <a:schemeClr val="bg1"/>
              </a:solidFill>
              <a:latin typeface="Times New Roman" panose="02020603050405020304" pitchFamily="18" charset="0"/>
              <a:ea typeface="ADLaM Display" panose="02010000000000000000" pitchFamily="2" charset="0"/>
              <a:cs typeface="Times New Roman" panose="02020603050405020304" pitchFamily="18" charset="0"/>
            </a:endParaRPr>
          </a:p>
          <a:p>
            <a:pPr algn="just"/>
            <a:r>
              <a:rPr lang="ru-RU" sz="1800" b="1" dirty="0" err="1">
                <a:solidFill>
                  <a:schemeClr val="bg1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Шоубоксы</a:t>
            </a:r>
            <a:r>
              <a:rPr lang="ru-RU" sz="1800" b="1" dirty="0">
                <a:solidFill>
                  <a:schemeClr val="bg1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 не произвели никакого статистически значимого эффекта на продажи ни в целом 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(</a:t>
            </a:r>
            <a:r>
              <a:rPr lang="ru-RU" sz="1800" b="1" dirty="0">
                <a:solidFill>
                  <a:schemeClr val="bg1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по тестовым магазинам</a:t>
            </a:r>
            <a:r>
              <a:rPr lang="en-US" sz="1800" b="1">
                <a:solidFill>
                  <a:schemeClr val="bg1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)</a:t>
            </a:r>
            <a:r>
              <a:rPr lang="ru-RU" sz="1800" b="1">
                <a:solidFill>
                  <a:schemeClr val="bg1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 </a:t>
            </a:r>
            <a:r>
              <a:rPr lang="ru-RU" sz="1800" b="1" dirty="0">
                <a:solidFill>
                  <a:schemeClr val="bg1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ни по конкретному 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SKU</a:t>
            </a:r>
            <a:endParaRPr lang="ru-RU" sz="1800" b="1" dirty="0">
              <a:solidFill>
                <a:schemeClr val="bg1"/>
              </a:solidFill>
              <a:latin typeface="Times New Roman" panose="02020603050405020304" pitchFamily="18" charset="0"/>
              <a:ea typeface="ADLaM Display" panose="02010000000000000000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09847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Посылка">
  <a:themeElements>
    <a:clrScheme name="Посылка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Посылка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Посылка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</TotalTime>
  <Words>228</Words>
  <Application>Microsoft Office PowerPoint</Application>
  <PresentationFormat>Широкоэкранный</PresentationFormat>
  <Paragraphs>17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Corbel</vt:lpstr>
      <vt:lpstr>Gill Sans MT</vt:lpstr>
      <vt:lpstr>Times New Roman</vt:lpstr>
      <vt:lpstr>Посылка</vt:lpstr>
      <vt:lpstr>Анализ эффективности шоубоксов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Office</cp:lastModifiedBy>
  <cp:revision>1</cp:revision>
  <dcterms:created xsi:type="dcterms:W3CDTF">2026-01-09T16:56:04Z</dcterms:created>
  <dcterms:modified xsi:type="dcterms:W3CDTF">2026-01-09T17:36:01Z</dcterms:modified>
</cp:coreProperties>
</file>